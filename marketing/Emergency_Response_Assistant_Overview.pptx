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Emergency Response Assistant, built by EMC1, keeps a fire officer's hands free and turns everything said on scene into decision support and official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pain: the information problem, the memory problem, and the paperwork problem. Every chief in the room has lived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verbs. The key point: it is ONE record moving through the pipeline, not four separate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mock panel: summary at top, traffic-light conditions, and the only two buttons an officer ever needs. Emphasize: the screen never blocks — analysis happens in the background.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SUPPORT, not an oracle: severity is graded against the client's own doctrine, every recommendation cites its source, and a human owns every acceptance.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ICS roles supported today, each with its own portal. The routing rules mirror real command doctrine — including the safety bypass.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closer. These are the real, official ICS Canada forms — filled by the assistant while the officer runs the scene, corrected on the form itself, exported as the official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survives the lawyers and the after-action review: an append-only trail, attributed edits, and a lock even command cannot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posture in one slide: Azure, Entra, tenant isolation, and the AI guardrail that matters most to a chief — it never makes things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demo offer. The live fill of the ICS forms is the moment that lands — let the product finish the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31520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311" y="884591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7315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EMC1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77240" y="196596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Response</a:t>
            </a:r>
            <a:endParaRPr lang="en-US" sz="54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795528" y="4114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incident command — from the first radio call to the official record.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95528" y="5577840"/>
            <a:ext cx="457200" cy="457200"/>
          </a:xfrm>
          <a:prstGeom prst="ellipse">
            <a:avLst/>
          </a:prstGeom>
          <a:solidFill>
            <a:srgbClr val="1F355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5701284"/>
            <a:ext cx="210312" cy="2103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07592" y="55778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2276856" y="5577840"/>
            <a:ext cx="457200" cy="457200"/>
          </a:xfrm>
          <a:prstGeom prst="ellipse">
            <a:avLst/>
          </a:prstGeom>
          <a:solidFill>
            <a:srgbClr val="1F355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0" y="5701284"/>
            <a:ext cx="210312" cy="2103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788920" y="55778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758184" y="5577840"/>
            <a:ext cx="457200" cy="457200"/>
          </a:xfrm>
          <a:prstGeom prst="ellipse">
            <a:avLst/>
          </a:prstGeom>
          <a:solidFill>
            <a:srgbClr val="1F3550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628" y="5701284"/>
            <a:ext cx="210312" cy="2103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70248" y="55778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5239512" y="5577840"/>
            <a:ext cx="457200" cy="457200"/>
          </a:xfrm>
          <a:prstGeom prst="ellipse">
            <a:avLst/>
          </a:prstGeom>
          <a:solidFill>
            <a:srgbClr val="1F3550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2956" y="5701284"/>
            <a:ext cx="210312" cy="21031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751576" y="55778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under chaos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77240" y="1298448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hour of an incident produces the most important information your agency will ever need about it — and today, most of it evaporates.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566928" cy="566928"/>
          </a:xfrm>
          <a:prstGeom prst="ellipse">
            <a:avLst/>
          </a:prstGeom>
          <a:solidFill>
            <a:srgbClr val="F1F4F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311" y="2530511"/>
            <a:ext cx="260787" cy="2607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6192" y="23408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chatter is fleeting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536192" y="270662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scene facts live for seconds on a channel — then they are gone.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77240" y="3611880"/>
            <a:ext cx="566928" cy="566928"/>
          </a:xfrm>
          <a:prstGeom prst="ellipse">
            <a:avLst/>
          </a:prstGeom>
          <a:solidFill>
            <a:srgbClr val="F1F4F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311" y="3764951"/>
            <a:ext cx="260787" cy="2607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36192" y="357530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happens later, from memory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536192" y="394106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reconstructed hours after the scene, when recall is weakest.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777240" y="4846320"/>
            <a:ext cx="566928" cy="566928"/>
          </a:xfrm>
          <a:prstGeom prst="ellipse">
            <a:avLst/>
          </a:prstGeom>
          <a:solidFill>
            <a:srgbClr val="F1F4F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11" y="4999391"/>
            <a:ext cx="260787" cy="2607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36192" y="480974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ICS paperwork burden is real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536192" y="517550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command team owes a binder of official forms for every incident.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7635240" y="1298448"/>
            <a:ext cx="3776472" cy="4892040"/>
          </a:xfrm>
          <a:prstGeom prst="roundRect">
            <a:avLst>
              <a:gd name="adj" fmla="val 2179"/>
            </a:avLst>
          </a:prstGeom>
          <a:solidFill>
            <a:srgbClr val="16283C"/>
          </a:solidFill>
          <a:ln/>
        </p:spPr>
      </p:sp>
      <p:sp>
        <p:nvSpPr>
          <p:cNvPr id="17" name="Text 12"/>
          <p:cNvSpPr/>
          <p:nvPr/>
        </p:nvSpPr>
        <p:spPr>
          <a:xfrm>
            <a:off x="800100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 THE LINE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00100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Accountability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001000" y="26700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decision must stand up in the review that follows.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001000" y="35844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001000" y="3968496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 from the response plan get noticed too late, or not at all.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001000" y="488289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Continuity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001000" y="5266944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scene taught you leaves when the shift does.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incident record, start to finish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77240" y="12984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listens at the scene and carries the same living record through analysis, advice, and official paperwork.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2487168" cy="3566160"/>
          </a:xfrm>
          <a:prstGeom prst="roundRect">
            <a:avLst>
              <a:gd name="adj" fmla="val 3309"/>
            </a:avLst>
          </a:prstGeom>
          <a:solidFill>
            <a:srgbClr val="F1F4F8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260604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6094" y="2778862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97480" y="254203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033272" y="3520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33272" y="397764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transcript builds from scene radio traffic. Nobody types at the scene — ever.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264408" y="37490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566160" y="2286000"/>
            <a:ext cx="2487168" cy="3566160"/>
          </a:xfrm>
          <a:prstGeom prst="roundRect">
            <a:avLst>
              <a:gd name="adj" fmla="val 3309"/>
            </a:avLst>
          </a:prstGeom>
          <a:solidFill>
            <a:srgbClr val="F1F4F8"/>
          </a:solidFill>
          <a:ln/>
        </p:spPr>
      </p:sp>
      <p:sp>
        <p:nvSpPr>
          <p:cNvPr id="12" name="Shape 9"/>
          <p:cNvSpPr/>
          <p:nvPr/>
        </p:nvSpPr>
        <p:spPr>
          <a:xfrm>
            <a:off x="3822192" y="2606040"/>
            <a:ext cx="640080" cy="640080"/>
          </a:xfrm>
          <a:prstGeom prst="ellipse">
            <a:avLst/>
          </a:prstGeom>
          <a:solidFill>
            <a:srgbClr val="16283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014" y="2778862"/>
            <a:ext cx="294437" cy="29443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254203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3822192" y="3520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822192" y="397764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distills the chatter into scene conditions and actions, each graded against your response plans.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053328" y="37490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355080" y="2286000"/>
            <a:ext cx="2487168" cy="3566160"/>
          </a:xfrm>
          <a:prstGeom prst="roundRect">
            <a:avLst>
              <a:gd name="adj" fmla="val 3309"/>
            </a:avLst>
          </a:prstGeom>
          <a:solidFill>
            <a:srgbClr val="F1F4F8"/>
          </a:solidFill>
          <a:ln/>
        </p:spPr>
      </p:sp>
      <p:sp>
        <p:nvSpPr>
          <p:cNvPr id="19" name="Shape 15"/>
          <p:cNvSpPr/>
          <p:nvPr/>
        </p:nvSpPr>
        <p:spPr>
          <a:xfrm>
            <a:off x="6611112" y="2606040"/>
            <a:ext cx="640080" cy="640080"/>
          </a:xfrm>
          <a:prstGeom prst="ellipse">
            <a:avLst/>
          </a:prstGeom>
          <a:solidFill>
            <a:srgbClr val="16283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934" y="2778862"/>
            <a:ext cx="294437" cy="29443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75320" y="254203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17"/>
          <p:cNvSpPr/>
          <p:nvPr/>
        </p:nvSpPr>
        <p:spPr>
          <a:xfrm>
            <a:off x="6611112" y="3520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611112" y="397764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role gets guidance grounded in your own plans and standards — with citations.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842248" y="37490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9144000" y="2286000"/>
            <a:ext cx="2487168" cy="3566160"/>
          </a:xfrm>
          <a:prstGeom prst="roundRect">
            <a:avLst>
              <a:gd name="adj" fmla="val 3309"/>
            </a:avLst>
          </a:prstGeom>
          <a:solidFill>
            <a:srgbClr val="F1F4F8"/>
          </a:solidFill>
          <a:ln/>
        </p:spPr>
      </p:sp>
      <p:sp>
        <p:nvSpPr>
          <p:cNvPr id="26" name="Shape 21"/>
          <p:cNvSpPr/>
          <p:nvPr/>
        </p:nvSpPr>
        <p:spPr>
          <a:xfrm>
            <a:off x="9400032" y="2606040"/>
            <a:ext cx="640080" cy="640080"/>
          </a:xfrm>
          <a:prstGeom prst="ellipse">
            <a:avLst/>
          </a:prstGeom>
          <a:solidFill>
            <a:srgbClr val="16283C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854" y="2778862"/>
            <a:ext cx="294437" cy="29443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064240" y="254203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9" name="Text 23"/>
          <p:cNvSpPr/>
          <p:nvPr/>
        </p:nvSpPr>
        <p:spPr>
          <a:xfrm>
            <a:off x="9400032" y="3520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9400032" y="397764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ICS Canada forms fill themselves from the incident record.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button. Zero typing.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77240" y="129844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Fire Officer's kiosk is built for gloves, noise, and zero spare attention.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2240280"/>
            <a:ext cx="512064" cy="512064"/>
          </a:xfrm>
          <a:prstGeom prst="ellipse">
            <a:avLst/>
          </a:prstGeom>
          <a:solidFill>
            <a:srgbClr val="F1F4F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497" y="2378537"/>
            <a:ext cx="235549" cy="2355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1328" y="21945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Incident begins listening and opens the record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481328" y="2788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press when boots hit the ground.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" y="3474720"/>
            <a:ext cx="512064" cy="512064"/>
          </a:xfrm>
          <a:prstGeom prst="ellipse">
            <a:avLst/>
          </a:prstGeom>
          <a:solidFill>
            <a:srgbClr val="F1F4F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97" y="3612977"/>
            <a:ext cx="235549" cy="2355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81328" y="34290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re-validates the plan as the scene evolves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481328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refreshes; the officer never waits on it.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77240" y="4709160"/>
            <a:ext cx="512064" cy="512064"/>
          </a:xfrm>
          <a:prstGeom prst="ellipse">
            <a:avLst/>
          </a:prstGeom>
          <a:solidFill>
            <a:srgbClr val="F1F4F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497" y="4847417"/>
            <a:ext cx="235549" cy="2355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81328" y="46634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Stop ends the response and freezes the scene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481328" y="5257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officer goes home; the support team carries it from there.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77724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ruggedized tablet mounted in the apparatus.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086600" y="1051560"/>
            <a:ext cx="4343400" cy="5120640"/>
          </a:xfrm>
          <a:prstGeom prst="roundRect">
            <a:avLst>
              <a:gd name="adj" fmla="val 2105"/>
            </a:avLst>
          </a:prstGeom>
          <a:solidFill>
            <a:srgbClr val="16283C"/>
          </a:solidFill>
          <a:ln/>
          <a:effectLst>
            <a:outerShdw sx="100000" sy="100000" kx="0" ky="0" algn="bl" rotWithShape="0" blurRad="152400" dist="50800" dir="5400000">
              <a:srgbClr val="9AA9B8">
                <a:alpha val="50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740664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SUMMARY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7406640" y="1618488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showing on Charlie side of the high school. Offensive attack under way; mutual aid activated.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7406640" y="2532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CONDITIONS AND ACTIONS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406640" y="2880360"/>
            <a:ext cx="3703320" cy="475488"/>
          </a:xfrm>
          <a:prstGeom prst="roundRect">
            <a:avLst>
              <a:gd name="adj" fmla="val 11538"/>
            </a:avLst>
          </a:prstGeom>
          <a:solidFill>
            <a:srgbClr val="1F3550"/>
          </a:solidFill>
          <a:ln/>
        </p:spPr>
      </p:sp>
      <p:sp>
        <p:nvSpPr>
          <p:cNvPr id="22" name="Shape 17"/>
          <p:cNvSpPr/>
          <p:nvPr/>
        </p:nvSpPr>
        <p:spPr>
          <a:xfrm>
            <a:off x="7516368" y="2962656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0310" y="3046598"/>
            <a:ext cx="143012" cy="1430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955280" y="288036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established on Alpha side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7406640" y="3447288"/>
            <a:ext cx="3703320" cy="475488"/>
          </a:xfrm>
          <a:prstGeom prst="roundRect">
            <a:avLst>
              <a:gd name="adj" fmla="val 11538"/>
            </a:avLst>
          </a:prstGeom>
          <a:solidFill>
            <a:srgbClr val="1F3550"/>
          </a:solidFill>
          <a:ln/>
        </p:spPr>
      </p:sp>
      <p:sp>
        <p:nvSpPr>
          <p:cNvPr id="26" name="Shape 20"/>
          <p:cNvSpPr/>
          <p:nvPr/>
        </p:nvSpPr>
        <p:spPr>
          <a:xfrm>
            <a:off x="7516368" y="3529584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0310" y="3613526"/>
            <a:ext cx="143012" cy="1430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955280" y="344728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walkaround complete; command declared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406640" y="4014216"/>
            <a:ext cx="3703320" cy="475488"/>
          </a:xfrm>
          <a:prstGeom prst="roundRect">
            <a:avLst>
              <a:gd name="adj" fmla="val 11538"/>
            </a:avLst>
          </a:prstGeom>
          <a:solidFill>
            <a:srgbClr val="1F3550"/>
          </a:solidFill>
          <a:ln/>
        </p:spPr>
      </p:sp>
      <p:sp>
        <p:nvSpPr>
          <p:cNvPr id="30" name="Shape 23"/>
          <p:cNvSpPr/>
          <p:nvPr/>
        </p:nvSpPr>
        <p:spPr>
          <a:xfrm>
            <a:off x="7516368" y="4096512"/>
            <a:ext cx="310896" cy="310896"/>
          </a:xfrm>
          <a:prstGeom prst="ellipse">
            <a:avLst/>
          </a:prstGeom>
          <a:solidFill>
            <a:srgbClr val="E8A01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0310" y="4180454"/>
            <a:ext cx="143012" cy="1430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955280" y="401421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attack under way — ventilation pending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7406640" y="4581144"/>
            <a:ext cx="3703320" cy="475488"/>
          </a:xfrm>
          <a:prstGeom prst="roundRect">
            <a:avLst>
              <a:gd name="adj" fmla="val 11538"/>
            </a:avLst>
          </a:prstGeom>
          <a:solidFill>
            <a:srgbClr val="1F3550"/>
          </a:solidFill>
          <a:ln/>
        </p:spPr>
      </p:sp>
      <p:sp>
        <p:nvSpPr>
          <p:cNvPr id="34" name="Shape 26"/>
          <p:cNvSpPr/>
          <p:nvPr/>
        </p:nvSpPr>
        <p:spPr>
          <a:xfrm>
            <a:off x="7516368" y="4663440"/>
            <a:ext cx="310896" cy="310896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0310" y="4747382"/>
            <a:ext cx="143012" cy="14301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955280" y="458114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line down on Delta side</a:t>
            </a:r>
            <a:endParaRPr lang="en-US" sz="1050" dirty="0"/>
          </a:p>
        </p:txBody>
      </p:sp>
      <p:sp>
        <p:nvSpPr>
          <p:cNvPr id="37" name="Shape 28"/>
          <p:cNvSpPr/>
          <p:nvPr/>
        </p:nvSpPr>
        <p:spPr>
          <a:xfrm>
            <a:off x="7406640" y="5367528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C8102E"/>
          </a:solidFill>
          <a:ln/>
        </p:spPr>
      </p:sp>
      <p:sp>
        <p:nvSpPr>
          <p:cNvPr id="38" name="Text 29"/>
          <p:cNvSpPr/>
          <p:nvPr/>
        </p:nvSpPr>
        <p:spPr>
          <a:xfrm>
            <a:off x="7406640" y="53675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STOP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9372600" y="5367528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F3550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9372600" y="53675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RE-VALIDATE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Advice you can defend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77240" y="1463040"/>
            <a:ext cx="3337560" cy="1965960"/>
          </a:xfrm>
          <a:prstGeom prst="roundRect">
            <a:avLst>
              <a:gd name="adj" fmla="val 4186"/>
            </a:avLst>
          </a:prstGeom>
          <a:solidFill>
            <a:srgbClr val="F1F4F8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" y="173736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348" y="1873148"/>
            <a:ext cx="231343" cy="2313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737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CONFORMING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051560" y="239572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your plans and standards. Green means verified, not assumed.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89120" y="1463040"/>
            <a:ext cx="3337560" cy="1965960"/>
          </a:xfrm>
          <a:prstGeom prst="roundRect">
            <a:avLst>
              <a:gd name="adj" fmla="val 4186"/>
            </a:avLst>
          </a:prstGeom>
          <a:solidFill>
            <a:srgbClr val="F1F4F8"/>
          </a:solidFill>
          <a:ln/>
        </p:spPr>
      </p:sp>
      <p:sp>
        <p:nvSpPr>
          <p:cNvPr id="9" name="Shape 6"/>
          <p:cNvSpPr/>
          <p:nvPr/>
        </p:nvSpPr>
        <p:spPr>
          <a:xfrm>
            <a:off x="4663440" y="1737360"/>
            <a:ext cx="502920" cy="502920"/>
          </a:xfrm>
          <a:prstGeom prst="ellipse">
            <a:avLst/>
          </a:prstGeom>
          <a:solidFill>
            <a:srgbClr val="E8A01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228" y="1873148"/>
            <a:ext cx="231343" cy="231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1737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DEVIATING — SAFE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663440" y="239572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Off-plan, but no life risk. Flagged early, before it becomes the red one.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001000" y="1463040"/>
            <a:ext cx="3337560" cy="1965960"/>
          </a:xfrm>
          <a:prstGeom prst="roundRect">
            <a:avLst>
              <a:gd name="adj" fmla="val 4186"/>
            </a:avLst>
          </a:prstGeom>
          <a:solidFill>
            <a:srgbClr val="F1F4F8"/>
          </a:solidFill>
          <a:ln/>
        </p:spPr>
      </p:sp>
      <p:sp>
        <p:nvSpPr>
          <p:cNvPr id="14" name="Shape 10"/>
          <p:cNvSpPr/>
          <p:nvPr/>
        </p:nvSpPr>
        <p:spPr>
          <a:xfrm>
            <a:off x="8275320" y="1737360"/>
            <a:ext cx="502920" cy="50292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1108" y="1873148"/>
            <a:ext cx="231343" cy="23134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15400" y="1737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DEVIATING — UNSAFE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275320" y="239572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Off-plan and life is at risk. Impossible to miss on the dashboard.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777240" y="3794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your own doctrine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777240" y="4343400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16283C"/>
          </a:solidFill>
          <a:ln/>
        </p:spPr>
      </p:sp>
      <p:sp>
        <p:nvSpPr>
          <p:cNvPr id="20" name="Text 15"/>
          <p:cNvSpPr/>
          <p:nvPr/>
        </p:nvSpPr>
        <p:spPr>
          <a:xfrm>
            <a:off x="960120" y="434340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municipal plans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1033272" y="4855464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F1F4F8"/>
          </a:solidFill>
          <a:ln/>
        </p:spPr>
      </p:sp>
      <p:sp>
        <p:nvSpPr>
          <p:cNvPr id="22" name="Text 17"/>
          <p:cNvSpPr/>
          <p:nvPr/>
        </p:nvSpPr>
        <p:spPr>
          <a:xfrm>
            <a:off x="1216152" y="485546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Provincial standards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1289304" y="5367528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F1F4F8"/>
          </a:solidFill>
          <a:ln/>
        </p:spPr>
      </p:sp>
      <p:sp>
        <p:nvSpPr>
          <p:cNvPr id="24" name="Text 19"/>
          <p:cNvSpPr/>
          <p:nvPr/>
        </p:nvSpPr>
        <p:spPr>
          <a:xfrm>
            <a:off x="1472184" y="536752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standards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1545336" y="5879592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F1F4F8"/>
          </a:solidFill>
          <a:ln/>
        </p:spPr>
      </p:sp>
      <p:sp>
        <p:nvSpPr>
          <p:cNvPr id="26" name="Text 21"/>
          <p:cNvSpPr/>
          <p:nvPr/>
        </p:nvSpPr>
        <p:spPr>
          <a:xfrm>
            <a:off x="1728216" y="587959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 fundamentals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777240" y="6400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local guidance wins — and where your plan differs from the published standard, the assistant shows the delta instead of hiding it.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492240" y="3977640"/>
            <a:ext cx="457200" cy="457200"/>
          </a:xfrm>
          <a:prstGeom prst="ellipse">
            <a:avLst/>
          </a:prstGeom>
          <a:solidFill>
            <a:srgbClr val="F1F4F8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684" y="4101084"/>
            <a:ext cx="210312" cy="21031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86600" y="3931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on every recommendation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7086600" y="4251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roles see exactly which document, which section, and why.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6492240" y="4873752"/>
            <a:ext cx="457200" cy="457200"/>
          </a:xfrm>
          <a:prstGeom prst="ellipse">
            <a:avLst/>
          </a:prstGeom>
          <a:solidFill>
            <a:srgbClr val="F1F4F8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684" y="4997196"/>
            <a:ext cx="210312" cy="21031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086600" y="48280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refinement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7086600" y="51480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first read is imperfect, the officer narrows it — no typing, three choices.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6492240" y="5769864"/>
            <a:ext cx="457200" cy="457200"/>
          </a:xfrm>
          <a:prstGeom prst="ellipse">
            <a:avLst/>
          </a:prstGeom>
          <a:solidFill>
            <a:srgbClr val="F1F4F8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5684" y="5893308"/>
            <a:ext cx="210312" cy="21031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086600" y="572414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proposes. A named human accepts.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7086600" y="604418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reaches the record without a person putting their name on it.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whole command team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77240" y="160020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/>
        </p:spPr>
      </p:sp>
      <p:sp>
        <p:nvSpPr>
          <p:cNvPr id="4" name="Shape 2"/>
          <p:cNvSpPr/>
          <p:nvPr/>
        </p:nvSpPr>
        <p:spPr>
          <a:xfrm>
            <a:off x="941832" y="1801368"/>
            <a:ext cx="777240" cy="512064"/>
          </a:xfrm>
          <a:prstGeom prst="roundRect">
            <a:avLst>
              <a:gd name="adj" fmla="val 12500"/>
            </a:avLst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" y="1801368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37944" y="160020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Commander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20440" y="160020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/>
        </p:spPr>
      </p:sp>
      <p:sp>
        <p:nvSpPr>
          <p:cNvPr id="8" name="Shape 6"/>
          <p:cNvSpPr/>
          <p:nvPr/>
        </p:nvSpPr>
        <p:spPr>
          <a:xfrm>
            <a:off x="3685032" y="1801368"/>
            <a:ext cx="777240" cy="512064"/>
          </a:xfrm>
          <a:prstGeom prst="roundRect">
            <a:avLst>
              <a:gd name="adj" fmla="val 12500"/>
            </a:avLst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3685032" y="1801368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81144" y="160020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Officer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269748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/>
        </p:spPr>
      </p:sp>
      <p:sp>
        <p:nvSpPr>
          <p:cNvPr id="12" name="Shape 10"/>
          <p:cNvSpPr/>
          <p:nvPr/>
        </p:nvSpPr>
        <p:spPr>
          <a:xfrm>
            <a:off x="941832" y="2898648"/>
            <a:ext cx="777240" cy="512064"/>
          </a:xfrm>
          <a:prstGeom prst="roundRect">
            <a:avLst>
              <a:gd name="adj" fmla="val 12500"/>
            </a:avLst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941832" y="2898648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37944" y="269748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Officer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20440" y="269748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/>
        </p:spPr>
      </p:sp>
      <p:sp>
        <p:nvSpPr>
          <p:cNvPr id="16" name="Shape 14"/>
          <p:cNvSpPr/>
          <p:nvPr/>
        </p:nvSpPr>
        <p:spPr>
          <a:xfrm>
            <a:off x="3685032" y="2898648"/>
            <a:ext cx="777240" cy="512064"/>
          </a:xfrm>
          <a:prstGeom prst="roundRect">
            <a:avLst>
              <a:gd name="adj" fmla="val 12500"/>
            </a:avLst>
          </a:pr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3685032" y="2898648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81144" y="269748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Liaison Officer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379476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/>
        </p:spPr>
      </p:sp>
      <p:sp>
        <p:nvSpPr>
          <p:cNvPr id="20" name="Shape 18"/>
          <p:cNvSpPr/>
          <p:nvPr/>
        </p:nvSpPr>
        <p:spPr>
          <a:xfrm>
            <a:off x="941832" y="3995928"/>
            <a:ext cx="777240" cy="512064"/>
          </a:xfrm>
          <a:prstGeom prst="roundRect">
            <a:avLst>
              <a:gd name="adj" fmla="val 12500"/>
            </a:avLst>
          </a:prstGeom>
          <a:solidFill>
            <a:srgbClr val="E07020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" y="3995928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37944" y="379476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Chief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520440" y="379476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/>
        </p:spPr>
      </p:sp>
      <p:sp>
        <p:nvSpPr>
          <p:cNvPr id="24" name="Shape 22"/>
          <p:cNvSpPr/>
          <p:nvPr/>
        </p:nvSpPr>
        <p:spPr>
          <a:xfrm>
            <a:off x="3685032" y="3995928"/>
            <a:ext cx="777240" cy="512064"/>
          </a:xfrm>
          <a:prstGeom prst="roundRect">
            <a:avLst>
              <a:gd name="adj" fmla="val 12500"/>
            </a:avLst>
          </a:prstGeom>
          <a:solidFill>
            <a:srgbClr val="2456A0"/>
          </a:solidFill>
          <a:ln/>
        </p:spPr>
      </p:sp>
      <p:sp>
        <p:nvSpPr>
          <p:cNvPr id="25" name="Text 23"/>
          <p:cNvSpPr/>
          <p:nvPr/>
        </p:nvSpPr>
        <p:spPr>
          <a:xfrm>
            <a:off x="3685032" y="3995928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81144" y="379476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Chief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7240" y="489204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/>
        </p:spPr>
      </p:sp>
      <p:sp>
        <p:nvSpPr>
          <p:cNvPr id="28" name="Shape 26"/>
          <p:cNvSpPr/>
          <p:nvPr/>
        </p:nvSpPr>
        <p:spPr>
          <a:xfrm>
            <a:off x="941832" y="5093208"/>
            <a:ext cx="777240" cy="512064"/>
          </a:xfrm>
          <a:prstGeom prst="roundRect">
            <a:avLst>
              <a:gd name="adj" fmla="val 12500"/>
            </a:avLst>
          </a:prstGeom>
          <a:solidFill>
            <a:srgbClr val="E8C020"/>
          </a:solidFill>
          <a:ln/>
        </p:spPr>
      </p:sp>
      <p:sp>
        <p:nvSpPr>
          <p:cNvPr id="29" name="Text 27"/>
          <p:cNvSpPr/>
          <p:nvPr/>
        </p:nvSpPr>
        <p:spPr>
          <a:xfrm>
            <a:off x="941832" y="5093208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837944" y="489204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Chief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520440" y="489204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/>
        </p:spPr>
      </p:sp>
      <p:sp>
        <p:nvSpPr>
          <p:cNvPr id="32" name="Shape 30"/>
          <p:cNvSpPr/>
          <p:nvPr/>
        </p:nvSpPr>
        <p:spPr>
          <a:xfrm>
            <a:off x="3685032" y="5093208"/>
            <a:ext cx="777240" cy="512064"/>
          </a:xfrm>
          <a:prstGeom prst="roundRect">
            <a:avLst>
              <a:gd name="adj" fmla="val 12500"/>
            </a:avLst>
          </a:prstGeom>
          <a:solidFill>
            <a:srgbClr val="6B7680"/>
          </a:solidFill>
          <a:ln/>
        </p:spPr>
      </p:sp>
      <p:sp>
        <p:nvSpPr>
          <p:cNvPr id="33" name="Text 31"/>
          <p:cNvSpPr/>
          <p:nvPr/>
        </p:nvSpPr>
        <p:spPr>
          <a:xfrm>
            <a:off x="3685032" y="5093208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81144" y="489204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Finance/Admin Chief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" y="61447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 match official ICS Canada vest assignments.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0" y="1783080"/>
            <a:ext cx="512064" cy="512064"/>
          </a:xfrm>
          <a:prstGeom prst="ellipse">
            <a:avLst/>
          </a:prstGeom>
          <a:solidFill>
            <a:srgbClr val="F1F4F8"/>
          </a:solidFill>
          <a:ln/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1937" y="1921337"/>
            <a:ext cx="235549" cy="235549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7269480" y="17373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 gets its own view</a:t>
            </a:r>
            <a:endParaRPr lang="en-US" sz="1550" dirty="0"/>
          </a:p>
        </p:txBody>
      </p:sp>
      <p:sp>
        <p:nvSpPr>
          <p:cNvPr id="39" name="Text 36"/>
          <p:cNvSpPr/>
          <p:nvPr/>
        </p:nvSpPr>
        <p:spPr>
          <a:xfrm>
            <a:off x="7269480" y="213055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recommendations, forms, and checklists — the PIO never wades through hose-lay tactics.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6583680" y="3154680"/>
            <a:ext cx="512064" cy="512064"/>
          </a:xfrm>
          <a:prstGeom prst="ellipse">
            <a:avLst/>
          </a:prstGeom>
          <a:solidFill>
            <a:srgbClr val="F1F4F8"/>
          </a:solidFill>
          <a:ln/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937" y="3292937"/>
            <a:ext cx="235549" cy="235549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7269480" y="31089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transfers cleanly</a:t>
            </a:r>
            <a:endParaRPr lang="en-US" sz="1550" dirty="0"/>
          </a:p>
        </p:txBody>
      </p:sp>
      <p:sp>
        <p:nvSpPr>
          <p:cNvPr id="43" name="Text 39"/>
          <p:cNvSpPr/>
          <p:nvPr/>
        </p:nvSpPr>
        <p:spPr>
          <a:xfrm>
            <a:off x="7269480" y="350215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Transfer of Command, new advice routes through the IC for approval before it reaches the scene.</a:t>
            </a:r>
            <a:endParaRPr lang="en-US" sz="1250" dirty="0"/>
          </a:p>
        </p:txBody>
      </p:sp>
      <p:sp>
        <p:nvSpPr>
          <p:cNvPr id="44" name="Shape 40"/>
          <p:cNvSpPr/>
          <p:nvPr/>
        </p:nvSpPr>
        <p:spPr>
          <a:xfrm>
            <a:off x="6583680" y="4526280"/>
            <a:ext cx="512064" cy="512064"/>
          </a:xfrm>
          <a:prstGeom prst="ellipse">
            <a:avLst/>
          </a:prstGeom>
          <a:solidFill>
            <a:srgbClr val="F1F4F8"/>
          </a:solidFill>
          <a:ln/>
        </p:spPr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937" y="4664537"/>
            <a:ext cx="235549" cy="235549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7269480" y="44805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safety never waits in a queue</a:t>
            </a:r>
            <a:endParaRPr lang="en-US" sz="1550" dirty="0"/>
          </a:p>
        </p:txBody>
      </p:sp>
      <p:sp>
        <p:nvSpPr>
          <p:cNvPr id="47" name="Text 42"/>
          <p:cNvSpPr/>
          <p:nvPr/>
        </p:nvSpPr>
        <p:spPr>
          <a:xfrm>
            <a:off x="7269480" y="487375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Officer items bypass straight to the Fire Officer's screen, flagged, always.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paperwork writes itself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77240" y="1600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788920" y="174650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ICS Canada forms, managed digitally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~1,500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88920" y="279806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fields captured once, never retyped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703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788920" y="384962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of scene time spent on paperwork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89204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in seconds from the live incident — objectives, safety analysis, activity logs, resource tables.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are typed directly ON the official form, exactly where they belong.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edit is shared with the whole team instantly, attributed, and audit-logged.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are pixel-identical official PDFs — because they ARE the official forms.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23760" y="1188720"/>
            <a:ext cx="4023360" cy="5029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5236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OBJECTIVES (ICS 202)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52360" y="1755648"/>
            <a:ext cx="3566160" cy="0"/>
          </a:xfrm>
          <a:prstGeom prst="line">
            <a:avLst/>
          </a:prstGeom>
          <a:noFill/>
          <a:ln w="19050">
            <a:solidFill>
              <a:srgbClr val="1E2A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2360" y="18745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INCIDENT NAME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45236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Spacely Sprockets High School Fire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966960" y="18745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DATE / TIME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966960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2026-07-21  17:59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52360" y="2487168"/>
            <a:ext cx="3566160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25786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OBJECTIVES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452360" y="2816352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4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Confirm primary search complete in main structure.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4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Contain fire to building of origin; protect exposures.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4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Secure utilities; maintain collapse zone on Delta side.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52360" y="3977640"/>
            <a:ext cx="3566160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40690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COMMAND EMPHASIS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452360" y="430682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transition only on IC order; maintain 2-in/2-out.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52360" y="4937760"/>
            <a:ext cx="3566160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50292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SITE SAFETY PLAN REQUIRED?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058400" y="5029200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A36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6688" y="5038344"/>
            <a:ext cx="164592" cy="16459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0314432" y="49926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452360" y="5532120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C8102E"/>
          </a:solidFill>
          <a:ln/>
        </p:spPr>
      </p:sp>
      <p:sp>
        <p:nvSpPr>
          <p:cNvPr id="29" name="Text 26"/>
          <p:cNvSpPr/>
          <p:nvPr/>
        </p:nvSpPr>
        <p:spPr>
          <a:xfrm>
            <a:off x="7452360" y="5532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AI-FILLED · HUMAN-VERIFIED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record you can stand behind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77240" y="150876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F1F4F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087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46120" y="153619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566160" y="150876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F1F4F8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15087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to Recovery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35040" y="153619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355080" y="150876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F1F4F8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15087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23960" y="153619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0" y="150876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0" y="15087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2606040"/>
            <a:ext cx="566928" cy="566928"/>
          </a:xfrm>
          <a:prstGeom prst="ellipse">
            <a:avLst/>
          </a:prstGeom>
          <a:solidFill>
            <a:srgbClr val="F1F4F8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311" y="2759111"/>
            <a:ext cx="260787" cy="26078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36192" y="256946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always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754880" y="2569464"/>
            <a:ext cx="6629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transcript and every event are attributed, timestamped, and permanent. Nothing is edited in place; nothing is ever deleted — corrections add to the record.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77240" y="3886200"/>
            <a:ext cx="566928" cy="566928"/>
          </a:xfrm>
          <a:prstGeom prst="ellipse">
            <a:avLst/>
          </a:prstGeom>
          <a:solidFill>
            <a:srgbClr val="F1F4F8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311" y="4039271"/>
            <a:ext cx="260787" cy="26078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536192" y="384962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Conflict-safe collaboration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754880" y="3849624"/>
            <a:ext cx="6629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people touch the same form, the second is told who changed what — no silent overwrites, ever.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777240" y="5166360"/>
            <a:ext cx="566928" cy="566928"/>
          </a:xfrm>
          <a:prstGeom prst="ellipse">
            <a:avLst/>
          </a:prstGeom>
          <a:solidFill>
            <a:srgbClr val="F1F4F8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11" y="5319431"/>
            <a:ext cx="260787" cy="26078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536192" y="512978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one-way seal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4754880" y="5129784"/>
            <a:ext cx="6629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Closeout locks the incident as the official record — after the seal, not even the Incident Commander can alter it. Ready for municipal, provincial, and federal reporting.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Enterprise-grade foundations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77240" y="12984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EMC1 as a non-profit mission: emergency-response technology agencies can actually afford.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F1F4F8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423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693" y="257129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4414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51560" y="31089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Azure's Canadian regions on managed cloud infrastructure — no servers in your station.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214884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F1F4F8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423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373" y="257129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4414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identity, your accounts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92240" y="31089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through Microsoft Entra ID. Your directory controls who holds which role.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77240" y="425196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F1F4F8"/>
          </a:solidFill>
          <a:ln/>
        </p:spPr>
      </p:sp>
      <p:sp>
        <p:nvSpPr>
          <p:cNvPr id="15" name="Shape 11"/>
          <p:cNvSpPr/>
          <p:nvPr/>
        </p:nvSpPr>
        <p:spPr>
          <a:xfrm>
            <a:off x="1051560" y="45262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693" y="467441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5445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per agency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051560" y="52120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agency's incidents, plans, and records are partitioned — your data is yours alone.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425196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F1F4F8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5262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373" y="467441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5445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Evidence-only AI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492240" y="52120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never invents names, units, or facts. What it cannot ground in the record, it leaves blank for a human.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31520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311" y="884591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7315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EMC1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77240" y="2148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run a live incident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95528" y="32461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demo takes one scenario end to end: radio traffic in, traffic-light dashboard up, role recommendations reviewed, official ICS forms filled, record locked. About thirty minutes — bring your toughest incident.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95528" y="4892040"/>
            <a:ext cx="548640" cy="548640"/>
          </a:xfrm>
          <a:prstGeom prst="ellipse">
            <a:avLst/>
          </a:prstGeom>
          <a:solidFill>
            <a:srgbClr val="1F355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1" y="5040173"/>
            <a:ext cx="252374" cy="2523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4892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demonstration with EMC1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95528" y="6080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Assistant — from the first radio call to the official record.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2026-07-23T16:36:58Z</dcterms:created>
  <dcterms:modified xsi:type="dcterms:W3CDTF">2026-07-23T16:36:58Z</dcterms:modified>
</cp:coreProperties>
</file>